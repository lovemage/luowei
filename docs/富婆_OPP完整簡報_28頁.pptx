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6185" y="1188720"/>
            <a:ext cx="1920240" cy="365760"/>
          </a:xfrm>
          <a:prstGeom prst="roundRect">
            <a:avLst>
              <a:gd name="adj" fmla="val 50000"/>
            </a:avLst>
          </a:prstGeom>
          <a:ln w="12700">
            <a:solidFill>
              <a:srgbClr val="C9A4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36185" y="1188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富婆組建籌備會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7452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E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專屬於女企業家的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C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高價值商業生態圈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5204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打破傳統商會盲點，串聯服務高價值女性客群的黃金產業鏈，打造互助、高效、共榮的商業生態。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3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富婆 自己當 江山 自己扛。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6B5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創會理念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115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猶太人說：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9115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財富，都是掌握在女人手上的。”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她們很努力，事業做得很好，卻很少有人陪她們一起走。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所以，我想自己建一個真正屬於女人的圈子。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讓每一個女生，都找到自己的配得感。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937760" y="4279392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5262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富婆，自己當；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5285232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江山，自己扛。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分會四大地基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0" y="100584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7862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53312"/>
            <a:ext cx="73152" cy="232257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36192"/>
            <a:ext cx="502920" cy="502920"/>
          </a:xfrm>
          <a:prstGeom prst="ellipse">
            <a:avLst/>
          </a:prstGeom>
          <a:solidFill>
            <a:srgbClr val="C64B6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36192"/>
            <a:ext cx="42899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找到真正對的人脈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31720"/>
            <a:ext cx="49299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一個行業一位代表，不搶客源。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固定引薦機制，讓合作真的成交，不是換了名片就沒下文。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55868" y="1280160"/>
            <a:ext cx="547862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55868" y="1353312"/>
            <a:ext cx="73152" cy="232257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0188" y="1536192"/>
            <a:ext cx="502920" cy="502920"/>
          </a:xfrm>
          <a:prstGeom prst="ellipse">
            <a:avLst/>
          </a:prstGeom>
          <a:solidFill>
            <a:srgbClr val="3F7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30188" y="1536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0268" y="1536192"/>
            <a:ext cx="42899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把時間用在對的地方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30188" y="219456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0188" y="2331720"/>
            <a:ext cx="49299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不辦無效應酬、不用實體早餐會。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線上連結，一個月一次聚會，把時間留給真正有意義的人。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547862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142232"/>
            <a:ext cx="73152" cy="2322576"/>
          </a:xfrm>
          <a:prstGeom prst="rect">
            <a:avLst/>
          </a:prstGeom>
          <a:solidFill>
            <a:srgbClr val="346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325112"/>
            <a:ext cx="502920" cy="502920"/>
          </a:xfrm>
          <a:prstGeom prst="ellipse">
            <a:avLst/>
          </a:prstGeom>
          <a:solidFill>
            <a:srgbClr val="346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325112"/>
            <a:ext cx="42899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讓妳的好，被更多人看見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31520" y="498348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120640"/>
            <a:ext cx="49299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教會每一位夥伴自媒體技能，不需要很會拍、很會剪。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妳被看見，機會跟資源就會回流到妳身上。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55868" y="4069080"/>
            <a:ext cx="547862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5868" y="4142232"/>
            <a:ext cx="73152" cy="2322576"/>
          </a:xfrm>
          <a:prstGeom prst="rect">
            <a:avLst/>
          </a:prstGeom>
          <a:solidFill>
            <a:srgbClr val="6C4F9C"/>
          </a:solidFill>
          <a:ln/>
        </p:spPr>
      </p:sp>
      <p:sp>
        <p:nvSpPr>
          <p:cNvPr id="27" name="Shape 25"/>
          <p:cNvSpPr/>
          <p:nvPr/>
        </p:nvSpPr>
        <p:spPr>
          <a:xfrm>
            <a:off x="6530188" y="4325112"/>
            <a:ext cx="502920" cy="502920"/>
          </a:xfrm>
          <a:prstGeom prst="ellipse">
            <a:avLst/>
          </a:prstGeom>
          <a:solidFill>
            <a:srgbClr val="6C4F9C"/>
          </a:solidFill>
          <a:ln/>
        </p:spPr>
      </p:sp>
      <p:sp>
        <p:nvSpPr>
          <p:cNvPr id="28" name="Text 26"/>
          <p:cNvSpPr/>
          <p:nvPr/>
        </p:nvSpPr>
        <p:spPr>
          <a:xfrm>
            <a:off x="6530188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0268" y="4325112"/>
            <a:ext cx="42899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把對的人請進來，互相成就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30188" y="498348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0188" y="5120640"/>
            <a:ext cx="49299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外貌、身心靈都有專業夥伴陪妳走。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每個人都有自己的專業，也都是彼此的資源。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為什麼我想組建這個團隊？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478628" cy="24917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07592"/>
            <a:ext cx="73152" cy="234543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9299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一：</a:t>
            </a:r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打破傳統商會的盲點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492998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醫美、美業、精品、健康等高客單生意主力皆為女生，但老闆娘常待在男性主導商會，客源對不上，甚至常面臨不必要的尷尬場面。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5868" y="1234440"/>
            <a:ext cx="5478628" cy="24917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55868" y="1307592"/>
            <a:ext cx="73152" cy="234543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11" name="Text 9"/>
          <p:cNvSpPr/>
          <p:nvPr/>
        </p:nvSpPr>
        <p:spPr>
          <a:xfrm>
            <a:off x="6530188" y="1463040"/>
            <a:ext cx="49299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二：</a:t>
            </a:r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告別無效社交，找回時間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0188" y="201168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0188" y="2148840"/>
            <a:ext cx="492998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女性創業家兼顧事業與家庭。我們打造不受地點限制的高效連結，一個月一次輕鬆聚會，把時間留給真正有意義的深層合作。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46220"/>
            <a:ext cx="5478628" cy="24917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119372"/>
            <a:ext cx="73152" cy="2345436"/>
          </a:xfrm>
          <a:prstGeom prst="rect">
            <a:avLst/>
          </a:prstGeom>
          <a:solidFill>
            <a:srgbClr val="346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74820"/>
            <a:ext cx="49299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46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三：</a:t>
            </a:r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陪妳持續成長，不只是賺錢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82346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60620"/>
            <a:ext cx="492998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很多女性企業家事業做得很好，卻很少有人陪她們持續成長、持續投資自己。我們想做的不只是生意，也想讓大家在這裡被理解、被支持。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55868" y="4046220"/>
            <a:ext cx="5478628" cy="24917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5868" y="4119372"/>
            <a:ext cx="73152" cy="2345436"/>
          </a:xfrm>
          <a:prstGeom prst="rect">
            <a:avLst/>
          </a:prstGeom>
          <a:solidFill>
            <a:srgbClr val="6C4F9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0188" y="4274820"/>
            <a:ext cx="49299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C4F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四：</a:t>
            </a:r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打造專屬女性的影響力生態圈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30188" y="4823460"/>
            <a:ext cx="4929988" cy="0"/>
          </a:xfrm>
          <a:prstGeom prst="line">
            <a:avLst/>
          </a:prstGeom>
          <a:noFill/>
          <a:ln w="9525">
            <a:solidFill>
              <a:srgbClr val="EEE4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0188" y="4960620"/>
            <a:ext cx="492998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串聯真正服務女性客群的產業鏈，讓每一位加入的人，不只賺到錢，也能透過彼此的資源與曝光，把自己的影響力放大出去。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20040"/>
            <a:ext cx="1054577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200" kern="0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我們要挖一個魚池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把服務女性的所有行業，通通放進同一個池子裡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90265" y="1417320"/>
            <a:ext cx="1554480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4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90265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不抽佣金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19065" y="1417320"/>
            <a:ext cx="1554480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4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9065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不拿好處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47865" y="1417320"/>
            <a:ext cx="1554480" cy="384048"/>
          </a:xfrm>
          <a:prstGeom prst="roundRect">
            <a:avLst>
              <a:gd name="adj" fmla="val 50000"/>
            </a:avLst>
          </a:prstGeom>
          <a:ln w="15875">
            <a:solidFill>
              <a:srgbClr val="C9A4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7865" y="14173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不算利潤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只做一件事：互相把客戶養大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5790895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A45C"/>
            </a:solidFill>
            <a:prstDash val="solid"/>
          </a:ln>
          <a:effectLst>
            <a:outerShdw sx="100000" sy="100000" kx="0" ky="0" algn="bl" rotWithShape="0" blurRad="50800" dist="25400" dir="5400000">
              <a:srgbClr val="9C8B6B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606040"/>
            <a:ext cx="5790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人 30 個客戶　✕　30 人　</a:t>
            </a:r>
            <a:pPr algn="ctr" indent="0" marL="0">
              <a:buNone/>
            </a:pPr>
            <a:r>
              <a:rPr lang="en-US" sz="26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　破千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3200400"/>
            <a:ext cx="5790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這個時代，只有人傳人，才會倍增。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79476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她的臉．她的身材．她的穿搭．她的家．她的錢．她的小孩．她的旅行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——全部都有人接。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280160" y="5166360"/>
            <a:ext cx="9631375" cy="1325880"/>
          </a:xfrm>
          <a:prstGeom prst="roundRect">
            <a:avLst>
              <a:gd name="adj" fmla="val 8276"/>
            </a:avLst>
          </a:prstGeom>
          <a:solidFill>
            <a:srgbClr val="FBF6EA"/>
          </a:solidFill>
          <a:ln w="12700">
            <a:solidFill>
              <a:srgbClr val="C9A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166360"/>
            <a:ext cx="90827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i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這不是商會，這是一條猶太人講了一千年，</a:t>
            </a:r>
            <a:endParaRPr lang="en-US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900" b="1" i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但今天還沒有人挖出來的產業鏈。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富婆產業鏈組建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9601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修心．養顏．進財——養出一個富婆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37760" y="14173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3515258" cy="91440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4767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31494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高客單．高信任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624328"/>
            <a:ext cx="2600858" cy="0"/>
          </a:xfrm>
          <a:prstGeom prst="line">
            <a:avLst/>
          </a:prstGeom>
          <a:noFill/>
          <a:ln w="12700">
            <a:solidFill>
              <a:srgbClr val="EEE4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25496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807208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美業鏈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8020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1678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49849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頭皮毛髮鏈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171493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08069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189781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健康醫療鏈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862779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99355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4881067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時尚精品鏈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555406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59064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557235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心理身心鏈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38218" y="169164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8218" y="1691640"/>
            <a:ext cx="3515258" cy="91440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521098" y="194767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21098" y="2313432"/>
            <a:ext cx="31494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高黏著．高陪伴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95418" y="2624328"/>
            <a:ext cx="2600858" cy="0"/>
          </a:xfrm>
          <a:prstGeom prst="line">
            <a:avLst/>
          </a:prstGeom>
          <a:noFill/>
          <a:ln w="12700">
            <a:solidFill>
              <a:srgbClr val="EEE4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8218" y="2825496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32578" y="2807208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居家生活鏈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66818" y="348020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8218" y="351678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32578" y="349849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寵物生活鏈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566818" y="4171493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38218" y="4208069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932578" y="4189781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美食餐飲鏈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566818" y="4862779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8218" y="4899355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32578" y="4881067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休閒體驗鏈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66818" y="555406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8218" y="559064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32578" y="557235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家庭教育鏈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173517" y="1691640"/>
            <a:ext cx="3515258" cy="47548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173517" y="1691640"/>
            <a:ext cx="3515258" cy="91440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45" name="Text 43"/>
          <p:cNvSpPr/>
          <p:nvPr/>
        </p:nvSpPr>
        <p:spPr>
          <a:xfrm>
            <a:off x="8356397" y="1947672"/>
            <a:ext cx="31494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356397" y="2313432"/>
            <a:ext cx="314949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擴張．變現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30717" y="2624328"/>
            <a:ext cx="2600858" cy="0"/>
          </a:xfrm>
          <a:prstGeom prst="line">
            <a:avLst/>
          </a:prstGeom>
          <a:noFill/>
          <a:ln w="12700">
            <a:solidFill>
              <a:srgbClr val="EEE4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3517" y="2825496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767877" y="2807208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行銷鏈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402117" y="348020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73517" y="351678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767877" y="349849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財富管理鏈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8402117" y="4171493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73517" y="4208069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767877" y="4189781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法律規範鏈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402117" y="4862779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73517" y="4899355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767877" y="4881067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資本募資鏈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402117" y="5554066"/>
            <a:ext cx="3058058" cy="0"/>
          </a:xfrm>
          <a:prstGeom prst="line">
            <a:avLst/>
          </a:prstGeom>
          <a:noFill/>
          <a:ln w="6350">
            <a:solidFill>
              <a:srgbClr val="F1E9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73517" y="5590642"/>
            <a:ext cx="640080" cy="654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8767877" y="5572354"/>
            <a:ext cx="2738018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飯店與工程鏈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8945" y="137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</p:sp>
      <p:sp>
        <p:nvSpPr>
          <p:cNvPr id="3" name="Text 1"/>
          <p:cNvSpPr/>
          <p:nvPr/>
        </p:nvSpPr>
        <p:spPr>
          <a:xfrm>
            <a:off x="4358945" y="137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核心理念｜每個女人，都值得被好好對待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0" y="621792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富婆成會兩條線｜地推 × 天推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0" y="1152144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一條腳踏實地把會建起來，一條讓全世界看到這個會多讓人羨慕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0" y="150876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5364328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5364328" cy="109728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65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🚶‍♀️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37360" y="1965960"/>
            <a:ext cx="390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463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一群人，親自把會建起來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044952"/>
            <a:ext cx="4632808" cy="0"/>
          </a:xfrm>
          <a:prstGeom prst="line">
            <a:avLst/>
          </a:prstGeom>
          <a:noFill/>
          <a:ln w="12700">
            <a:solidFill>
              <a:srgbClr val="EEE4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644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4358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靠的是人，不是流量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58184"/>
            <a:ext cx="4358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各自出發，找到自己行業裡，最需要的合作對象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32511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288536"/>
            <a:ext cx="4358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一個行業一個位置，把 15 條產業鏈實際填滿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85546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818888"/>
            <a:ext cx="435848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目標很具體：182 天內，100 席滿員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78728" y="1691640"/>
            <a:ext cx="5364328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8728" y="1691640"/>
            <a:ext cx="5364328" cy="109728"/>
          </a:xfrm>
          <a:prstGeom prst="rect">
            <a:avLst/>
          </a:prstGeom>
          <a:solidFill>
            <a:srgbClr val="6C4F9C"/>
          </a:solidFill>
          <a:ln/>
        </p:spPr>
      </p:sp>
      <p:sp>
        <p:nvSpPr>
          <p:cNvPr id="23" name="Text 21"/>
          <p:cNvSpPr/>
          <p:nvPr/>
        </p:nvSpPr>
        <p:spPr>
          <a:xfrm>
            <a:off x="6644488" y="1965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67448" y="1965960"/>
            <a:ext cx="3901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天推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644488" y="2651760"/>
            <a:ext cx="463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5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 Athena 美人團，讓全世界看見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44488" y="3044952"/>
            <a:ext cx="4632808" cy="0"/>
          </a:xfrm>
          <a:prstGeom prst="line">
            <a:avLst/>
          </a:prstGeom>
          <a:noFill/>
          <a:ln w="12700">
            <a:solidFill>
              <a:srgbClr val="EEE4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4488" y="32278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18808" y="32004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三大內容系列，各自有清楚主題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44488" y="36850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8808" y="36576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美力健康系列——外在魅力與大健康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44488" y="41422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8808" y="41148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身心療癒系列——身心靈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644488" y="45994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18808" y="45720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女力商務系列——商務與行銷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44488" y="50566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18808" y="50292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同步曬分會日常，讓人看了會羨慕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44488" y="55138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18808" y="5486400"/>
            <a:ext cx="435848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不分成會前後，全程都在經營，是長期引擎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9A4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地推把根扎穩，天推把光打亮——讓每個女人，都感受到自己值得被好好對待。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為什麼選擇 BNI 機制？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台灣超過一萬名會員——唯一不是社團，是以生意為導向，建立長期有意義關係的系統。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3545738" cy="4965192"/>
          </a:xfrm>
          <a:prstGeom prst="roundRect">
            <a:avLst>
              <a:gd name="adj" fmla="val 257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470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全球驗證系統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9970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41年歷史、76國、35萬會員，台灣超過一萬人，去年全球會員締造8,500億生意，借用成熟規則少走冤枉路。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2978" y="1572768"/>
            <a:ext cx="3545738" cy="4965192"/>
          </a:xfrm>
          <a:prstGeom prst="roundRect">
            <a:avLst>
              <a:gd name="adj" fmla="val 257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7298" y="18470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97298" y="2441448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嚴謹互助規則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7298" y="2852928"/>
            <a:ext cx="29970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同行業僅收一人零內部競爭；不給佣金純粹互助；先付出才有回報，最適合女性特質的商業文化。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8757" y="1572768"/>
            <a:ext cx="3545738" cy="4965192"/>
          </a:xfrm>
          <a:prstGeom prst="roundRect">
            <a:avLst>
              <a:gd name="adj" fmla="val 257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63077" y="18470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63077" y="2441448"/>
            <a:ext cx="29970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高信任鏈結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3077" y="2852928"/>
            <a:ext cx="299709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透過線上見面與定期互動建立真實信任，讓彼此敢大方將重要客戶交給夥伴。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本分會核心價值｜為妳省下三大成本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6949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A45C"/>
            </a:solidFill>
            <a:prstDash val="solid"/>
          </a:ln>
          <a:effectLst>
            <a:outerShdw sx="100000" sy="100000" kx="0" ky="0" algn="bl" rotWithShape="0" blurRad="50800" dist="25400" dir="5400000">
              <a:srgbClr val="9C8B6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第一：省時間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84708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不用再一個一個吃飯、一張一張換名片。高效線上運作，創造最高含金量的時間效益。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6949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A45C"/>
            </a:solidFill>
            <a:prstDash val="solid"/>
          </a:ln>
          <a:effectLst>
            <a:outerShdw sx="100000" sy="100000" kx="0" ky="0" algn="bl" rotWithShape="0" blurRad="50800" dist="25400" dir="5400000">
              <a:srgbClr val="9C8B6B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20040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第二：省力氣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63016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不用再自己辛苦開發客戶——透過分會網絡，讓懂妳的夥伴主動幫妳介紹對口客源。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6949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A45C"/>
            </a:solidFill>
            <a:prstDash val="solid"/>
          </a:ln>
          <a:effectLst>
            <a:outerShdw sx="100000" sy="100000" kx="0" ky="0" algn="bl" rotWithShape="0" blurRad="50800" dist="25400" dir="5400000">
              <a:srgbClr val="9C8B6B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983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98348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第三：省焦慮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4132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不用擔心對方靠不靠譜——會內的人都被嚴格篩選過，建立最強堅實後盾。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💇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美業鏈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醫美診所｜皮膚科｜整形外科｜美容工作室｜美甲｜美睫｜紋繡｜除毛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C6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客戶想做全臉拉皮，先轉介「醫美診所」評估手術，術後轉介「皮膚科」做修復保養，恢復期再交給「美容工作室」做居家保養課程。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💈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頭皮毛髮鏈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美髮沙龍｜頭皮養護｜增髮接髮｜韓式繡眉｜假髮訂製｜植髮診所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C6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客戶頭皮出油掉髮，先轉介「頭皮養護」代表檢測狀況，情況嚴重再轉介「植髮診所」評估，術後回頭找「美髮沙龍」代表做造型修飾。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健康醫療鏈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高端健檢｜婦產科｜家醫科｜中醫養生｜牙醫｜眼科｜復健科｜營養師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C6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客戶想做全身健檢，轉介「高端健檢」代表安排項目，若檢查出問題，再轉介「復健科」或「營養師」代表做後續調理。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時尚精品鏈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精品服飾｜珠寶訂製｜名錶精品代購｜精品眼鏡｜內衣訂製｜香水香氛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C6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客戶要出席重要場合，先找「精品服飾」代表挑選造型，轉介「珠寶訂製」代表搭配配件，最後用「香水香氛」代表畫龍點睛。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64B6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🧘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64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心理身心鏈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外在魅力與健康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身心科｜心理諮商｜正念冥想｜瑜珈教室｜皮拉提斯｜SPA芳療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C64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C6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客戶長期焦慮失眠，先轉介「心理諮商」代表談根源問題，再搭配「瑜珈教室」與「SPA芳療」代表做身體放鬆，雙管齊下。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居家生活鏈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豪宅仲介｜室內設計｜精品家具｜燈飾軟裝｜家事管家｜月子中心｜花藝｜私廚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3F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客戶剛買新房，先轉介「室內設計」代表規劃格局，裝潢期間找「精品家具」代表配置軟裝，完工後交給「家事管家」代表長期打理。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寵物生活鏈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寵物美容｜寵物旅館｜寵物醫院｜寵物訓練｜寵物用品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3F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客戶養的狗需要護理，轉介「寵物美容」代表定期照顧，出遊時找「寵物旅館」代表安排托育，日常用品交給「寵物用品」代表供應。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美食餐飲鏈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精緻食材｜進口酒｜烘焙甜點｜私廚體驗｜品茶會所｜餐廳經營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3F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客戶想辦一場家庭聚會，轉介「私廚體驗」代表到府掌廚，搭配「進口酒」代表選酒，飯後再約「品茶會所」代表續攤。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休閒體驗鏈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高端旅遊｜郵輪包機｜遊艇露營｜藝文策展｜高爾夫馬術｜表演藝術票券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3F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客戶想帶全家出國度假，轉介「高端旅遊」代表規劃行程，若想升級體驗，再加「郵輪包機」或「遊艇露營」代表安排特殊行程。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A5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3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家庭教育鏈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生活與心靈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私校顧問｜留學代辦｜才藝老師｜家教媒合｜蒙特梭利教育｜升學顧問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3F7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3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客戶小孩準備出國留學，轉介「留學代辦」代表處理申請，出國前找「才藝老師」代表加強面試表現，並銜接「升學顧問」代表做長期規劃。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6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行銷鏈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個人品牌顧問｜社群小編｜短影音製作｜商業攝影｜平面設計｜網站設計｜公關公司｜KOL經紀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A6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客戶想經營個人品牌，先轉介「個人品牌顧問」代表定位方向，找「短影音製作」代表拍攝內容，最後交給「社群小編」代表長期經營帳號。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6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財富管理鏈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保險經紀｜產險｜財富管理｜會計師｜稅務顧問｜家族信託｜投資顧問｜銀行理專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A6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客戶事業獲利要做規劃，先轉介「稅務顧問」代表節稅，資產增加後找「財富管理」代表做長期配置，最後用「家族信託」代表做傳承規劃。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6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法律規範鏈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律師｜地政士｜專利商標｜合約顧問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A6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客戶簽約前擔心風險，先轉介「合約顧問」代表審約，若牽涉商標再找「專利商標」代表申請，真有糾紛才轉介「律師」代表出面處理。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6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資本募資鏈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創投募資顧問｜遺產規劃師｜企業顧問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A6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客戶事業想擴張缺資金，轉介「創投募資顧問」代表對接資源，談成後再找「企業顧問」代表做股權與組織規劃。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6822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6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　</a:t>
            </a:r>
            <a:pPr algn="ctr"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飯店與工程鏈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193852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擴張與資本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2331720"/>
            <a:ext cx="2316175" cy="0"/>
          </a:xfrm>
          <a:prstGeom prst="line">
            <a:avLst/>
          </a:prstGeom>
          <a:noFill/>
          <a:ln w="9525">
            <a:solidFill>
              <a:srgbClr val="C9B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06040"/>
            <a:ext cx="99971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0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建設公司｜飯店民宿業主｜商辦不動產｜建築師事務所｜商業空間設計｜營造廠｜機電空調｜裝修木作｜旅行社｜OTA訂房｜商務空間出租｜高端食材供應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5074920"/>
            <a:ext cx="9265615" cy="1234440"/>
          </a:xfrm>
          <a:prstGeom prst="roundRect">
            <a:avLst>
              <a:gd name="adj" fmla="val 7407"/>
            </a:avLst>
          </a:prstGeom>
          <a:solidFill>
            <a:srgbClr val="FBF6EA"/>
          </a:solidFill>
          <a:ln w="12700">
            <a:solidFill>
              <a:srgbClr val="A68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5074920"/>
            <a:ext cx="87169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i="1" dirty="0">
                <a:solidFill>
                  <a:srgbClr val="A6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舉個例：</a:t>
            </a:r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一個工程案，從「建設公司」發包、「建築師事務所」出圖，「營造廠」統包進場，「機電空調」「裝修木作」接續施工——上下游一條龍，彼此互相發案。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我要找的，是「創會領頭羊」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78628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5257800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383280"/>
            <a:ext cx="47471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共同創辦人角色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747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不是普通會員，而是分會的共同創辦人。用妳的名字、聲譽與頂尖人脈，一同將富婆分會撐起，成為各條產業鏈的頭號代表（鏈主）。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5868" y="1280160"/>
            <a:ext cx="5478628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5868" y="1280160"/>
            <a:ext cx="73152" cy="5257800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10" name="Text 8"/>
          <p:cNvSpPr/>
          <p:nvPr/>
        </p:nvSpPr>
        <p:spPr>
          <a:xfrm>
            <a:off x="6621628" y="3383280"/>
            <a:ext cx="47471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歷史的共同作者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1628" y="3931920"/>
            <a:ext cx="47471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這不是一次普通的加入，而是一起創業。一年後分會的輝煌成就，掛的是妳們每一位的名字。資源與主導權，永遠屬於最初的造局者。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我們一年會走到哪裡？發展藍圖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613584" cy="51206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9632" y="1691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</p:sp>
      <p:sp>
        <p:nvSpPr>
          <p:cNvPr id="6" name="Text 4"/>
          <p:cNvSpPr/>
          <p:nvPr/>
        </p:nvSpPr>
        <p:spPr>
          <a:xfrm>
            <a:off x="1169632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第1個月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收滿 10 位領頭羊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三條主核心產業鏈全面到位，奠定分會強大基石。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5104" y="1371600"/>
            <a:ext cx="2613584" cy="51206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57536" y="1691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</p:sp>
      <p:sp>
        <p:nvSpPr>
          <p:cNvPr id="11" name="Text 9"/>
          <p:cNvSpPr/>
          <p:nvPr/>
        </p:nvSpPr>
        <p:spPr>
          <a:xfrm>
            <a:off x="4057536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第3個月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7984" y="219456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達到 36 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3704" y="278892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產業鏈骨架正式成型，初步產生協同轉介紹效應。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3008" y="1371600"/>
            <a:ext cx="2613584" cy="51206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5440" y="1691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</p:sp>
      <p:sp>
        <p:nvSpPr>
          <p:cNvPr id="16" name="Text 14"/>
          <p:cNvSpPr/>
          <p:nvPr/>
        </p:nvSpPr>
        <p:spPr>
          <a:xfrm>
            <a:off x="694544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第6個月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15888" y="219456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突破 51 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61608" y="2788920"/>
            <a:ext cx="2156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分會正式成會，聲勢擴大並開始強勁滾雪球。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20911" y="1371600"/>
            <a:ext cx="2613584" cy="512064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33343" y="1691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9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9833343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第12個月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03791" y="2194560"/>
            <a:ext cx="2247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席滿員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58071" y="278892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9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目標：12個月，100席到位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49511" y="33375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全台首創女性產業鏈分會，月引薦金額破百萬。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B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A2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獨特成會主張｜賦能武器（自媒體放大）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7295" cy="0"/>
          </a:xfrm>
          <a:prstGeom prst="line">
            <a:avLst/>
          </a:prstGeom>
          <a:noFill/>
          <a:ln w="19050">
            <a:solidFill>
              <a:srgbClr val="C9A4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78628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5257800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383280"/>
            <a:ext cx="47471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解決「想做卻太難」的痛點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光有實力還不夠，還要被看見。自媒體是把實力放大的武器。我們把剪片與拍攝變簡單，不需要繁複技巧，帶領夥伴輕鬆學會。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5868" y="1280160"/>
            <a:ext cx="5478628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3D8BE"/>
            </a:solidFill>
            <a:prstDash val="solid"/>
          </a:ln>
          <a:effectLst>
            <a:outerShdw sx="100000" sy="100000" kx="0" ky="0" algn="bl" rotWithShape="0" blurRad="63500" dist="25400" dir="5400000">
              <a:srgbClr val="9C8B6B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55868" y="1280160"/>
            <a:ext cx="73152" cy="5257800"/>
          </a:xfrm>
          <a:prstGeom prst="rect">
            <a:avLst/>
          </a:prstGeom>
          <a:solidFill>
            <a:srgbClr val="C9A45C"/>
          </a:solidFill>
          <a:ln/>
        </p:spPr>
      </p:sp>
      <p:sp>
        <p:nvSpPr>
          <p:cNvPr id="10" name="Text 8"/>
          <p:cNvSpPr/>
          <p:nvPr/>
        </p:nvSpPr>
        <p:spPr>
          <a:xfrm>
            <a:off x="6621628" y="3383280"/>
            <a:ext cx="47471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群體共振效應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1628" y="3931920"/>
            <a:ext cx="4747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3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一個人走得快，一群人走得遠。當每個人透過自媒體被看見，分會的聲量與影響力就跟著放大，將龐大資源反哺給每一位參與的夥伴。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812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27625" y="1463040"/>
            <a:ext cx="1737360" cy="365760"/>
          </a:xfrm>
          <a:prstGeom prst="roundRect">
            <a:avLst>
              <a:gd name="adj" fmla="val 50000"/>
            </a:avLst>
          </a:prstGeom>
          <a:ln w="12700">
            <a:solidFill>
              <a:srgbClr val="C9A4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27625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最後的機會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05740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E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為什麼是妳？為什麼是現在？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880360"/>
            <a:ext cx="94484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妳在這個領域已靠實力站穩腳步。位子只有一個。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錯過這個機會，同行業一年之內將不再開放。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C2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期待妳成為我們的第一批創會領頭羊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2026-08-14T04:54:28Z</dcterms:created>
  <dcterms:modified xsi:type="dcterms:W3CDTF">2026-08-14T04:54:28Z</dcterms:modified>
</cp:coreProperties>
</file>